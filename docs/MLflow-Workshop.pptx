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1+2: MLflow braucht nur DB + Objektspeicher — beides schon da. Ein Container mlflow, Backend=Postgres, Artefakte=MinIO, UI 5555.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3-5: Features aus dem See via Trino. KMeans k-Sweep, jeder Lauf ein MLflow-Run. 10 Fonds/30 Firmen, volle ISIN-Coverage. Bestes Modell k=2.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6-7: Inertia faellt monoton, Silhouette maximal bei k=2 -&gt; mehr Cluster ist nicht besser. Go-Live per Registry-Promotion auf Production. Ausblick: Batch-Scoring in curated.fund_esg, FastAPI-Serving.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MLflow im Mini-Lakehouse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9C7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Learning nativ im bestehenden Stack — kein neuer Backing-Service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3246120"/>
            <a:ext cx="2148840" cy="1097280"/>
          </a:xfrm>
          <a:prstGeom prst="roundRect">
            <a:avLst>
              <a:gd name="adj" fmla="val 6667"/>
            </a:avLst>
          </a:prstGeom>
          <a:solidFill>
            <a:srgbClr val="F4F7F2"/>
          </a:solidFill>
          <a:ln w="12700">
            <a:solidFill>
              <a:srgbClr val="D5DED2"/>
            </a:solidFill>
            <a:prstDash val="solid"/>
          </a:ln>
          <a:effectLst>
            <a:outerShdw sx="100000" sy="100000" kx="0" ky="0" algn="bl" rotWithShape="0" blurRad="76200" dist="25400" dir="5400000">
              <a:srgbClr val="0B1712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48640" y="3246120"/>
            <a:ext cx="2148840" cy="10972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5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Iceberg + Trino</a:t>
            </a:r>
            <a:endParaRPr lang="en-US" sz="15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layer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2743200" y="3794760"/>
            <a:ext cx="411480" cy="0"/>
          </a:xfrm>
          <a:prstGeom prst="line">
            <a:avLst/>
          </a:prstGeom>
          <a:noFill/>
          <a:ln w="28575">
            <a:solidFill>
              <a:srgbClr val="A9C77E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3200400" y="3246120"/>
            <a:ext cx="1874520" cy="1097280"/>
          </a:xfrm>
          <a:prstGeom prst="roundRect">
            <a:avLst>
              <a:gd name="adj" fmla="val 6667"/>
            </a:avLst>
          </a:prstGeom>
          <a:solidFill>
            <a:srgbClr val="F4F7F2"/>
          </a:solidFill>
          <a:ln w="12700">
            <a:solidFill>
              <a:srgbClr val="D5DED2"/>
            </a:solidFill>
            <a:prstDash val="solid"/>
          </a:ln>
          <a:effectLst>
            <a:outerShdw sx="100000" sy="100000" kx="0" ky="0" algn="bl" rotWithShape="0" blurRad="76200" dist="25400" dir="5400000">
              <a:srgbClr val="0B1712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200400" y="3246120"/>
            <a:ext cx="1874520" cy="10972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5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Jupyter</a:t>
            </a:r>
            <a:endParaRPr lang="en-US" sz="15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120640" y="3794760"/>
            <a:ext cx="457200" cy="0"/>
          </a:xfrm>
          <a:prstGeom prst="line">
            <a:avLst/>
          </a:prstGeom>
          <a:noFill/>
          <a:ln w="28575">
            <a:solidFill>
              <a:srgbClr val="A9C77E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5623560" y="3017520"/>
            <a:ext cx="2788920" cy="1554480"/>
          </a:xfrm>
          <a:prstGeom prst="roundRect">
            <a:avLst>
              <a:gd name="adj" fmla="val 4706"/>
            </a:avLst>
          </a:prstGeom>
          <a:solidFill>
            <a:srgbClr val="2C5F2D"/>
          </a:solidFill>
          <a:ln w="12700">
            <a:solidFill>
              <a:srgbClr val="7DA34D"/>
            </a:solidFill>
            <a:prstDash val="solid"/>
          </a:ln>
          <a:effectLst>
            <a:outerShdw sx="100000" sy="100000" kx="0" ky="0" algn="bl" rotWithShape="0" blurRad="76200" dist="25400" dir="5400000">
              <a:srgbClr val="0B1712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623560" y="3017520"/>
            <a:ext cx="2788920" cy="15544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MLflow Tracking Server</a:t>
            </a:r>
            <a:endParaRPr lang="en-US" sz="17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A9C7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  ·  Port 5555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8458200" y="3383280"/>
            <a:ext cx="457200" cy="0"/>
          </a:xfrm>
          <a:prstGeom prst="line">
            <a:avLst/>
          </a:prstGeom>
          <a:noFill/>
          <a:ln w="28575">
            <a:solidFill>
              <a:srgbClr val="A9C77E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8458200" y="4206240"/>
            <a:ext cx="457200" cy="0"/>
          </a:xfrm>
          <a:prstGeom prst="line">
            <a:avLst/>
          </a:prstGeom>
          <a:noFill/>
          <a:ln w="28575">
            <a:solidFill>
              <a:srgbClr val="A9C77E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8961120" y="2926080"/>
            <a:ext cx="2743200" cy="960120"/>
          </a:xfrm>
          <a:prstGeom prst="roundRect">
            <a:avLst>
              <a:gd name="adj" fmla="val 7619"/>
            </a:avLst>
          </a:prstGeom>
          <a:solidFill>
            <a:srgbClr val="EAF1EA"/>
          </a:solidFill>
          <a:ln w="12700">
            <a:solidFill>
              <a:srgbClr val="EAF1EA"/>
            </a:solidFill>
            <a:prstDash val="solid"/>
          </a:ln>
          <a:effectLst>
            <a:outerShdw sx="100000" sy="100000" kx="0" ky="0" algn="bl" rotWithShape="0" blurRad="76200" dist="25400" dir="5400000">
              <a:srgbClr val="0B1712">
                <a:alpha val="3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961120" y="2926080"/>
            <a:ext cx="2743200" cy="9601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5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15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Backend-Store · Runs · Metriken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961120" y="4023360"/>
            <a:ext cx="2743200" cy="960120"/>
          </a:xfrm>
          <a:prstGeom prst="roundRect">
            <a:avLst>
              <a:gd name="adj" fmla="val 7619"/>
            </a:avLst>
          </a:prstGeom>
          <a:solidFill>
            <a:srgbClr val="EAF1EA"/>
          </a:solidFill>
          <a:ln w="12700">
            <a:solidFill>
              <a:srgbClr val="EAF1EA"/>
            </a:solidFill>
            <a:prstDash val="solid"/>
          </a:ln>
          <a:effectLst>
            <a:outerShdw sx="100000" sy="100000" kx="0" ky="0" algn="bl" rotWithShape="0" blurRad="76200" dist="25400" dir="5400000">
              <a:srgbClr val="0B1712">
                <a:alpha val="3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961120" y="4023360"/>
            <a:ext cx="2743200" cy="9601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5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MinIO</a:t>
            </a:r>
            <a:endParaRPr lang="en-US" sz="15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Artifact-Store · Modelle · Plots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548640" y="598932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A9C7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Wiederverwendet, was das Lakehouse schon hat — Datenbank + Objektspeicher.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Fonds-CO₂-Fußabdruck &amp; ESG-Clustering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 Data-Science-Projekt aus Lakehouse-Daten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94360" y="1965960"/>
            <a:ext cx="502920" cy="502920"/>
          </a:xfrm>
          <a:prstGeom prst="ellipse">
            <a:avLst/>
          </a:prstGeom>
          <a:solidFill>
            <a:srgbClr val="2C5F2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280160" y="1920240"/>
            <a:ext cx="5074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700" b="1" dirty="0">
                <a:solidFill>
                  <a:srgbClr val="1E2B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Feature-Engineering</a:t>
            </a:r>
            <a:endParaRPr lang="en-US" sz="17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3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Trino-Join: Fondspositionen × Unternehmens-Emissionen (ISIN), gewichtet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94360" y="2953512"/>
            <a:ext cx="502920" cy="502920"/>
          </a:xfrm>
          <a:prstGeom prst="ellipse">
            <a:avLst/>
          </a:prstGeom>
          <a:solidFill>
            <a:srgbClr val="2C5F2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280160" y="2907792"/>
            <a:ext cx="5074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700" b="1" dirty="0">
                <a:solidFill>
                  <a:srgbClr val="1E2B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KMeans mit k-Sweep</a:t>
            </a:r>
            <a:endParaRPr lang="en-US" sz="17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3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 = 2…6, standardisierte Features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594360" y="3941064"/>
            <a:ext cx="502920" cy="502920"/>
          </a:xfrm>
          <a:prstGeom prst="ellipse">
            <a:avLst/>
          </a:prstGeom>
          <a:solidFill>
            <a:srgbClr val="2C5F2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280160" y="3895344"/>
            <a:ext cx="5074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700" b="1" dirty="0">
                <a:solidFill>
                  <a:srgbClr val="1E2B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MLflow-Tracking</a:t>
            </a:r>
            <a:endParaRPr lang="en-US" sz="17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3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Jeder Lauf: Parameter, Silhouette, Inertia, Modell, Plot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594360" y="4928616"/>
            <a:ext cx="502920" cy="502920"/>
          </a:xfrm>
          <a:prstGeom prst="ellipse">
            <a:avLst/>
          </a:prstGeom>
          <a:solidFill>
            <a:srgbClr val="2C5F2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280160" y="4882896"/>
            <a:ext cx="5074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700" b="1" dirty="0">
                <a:solidFill>
                  <a:srgbClr val="1E2B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Registry</a:t>
            </a:r>
            <a:endParaRPr lang="en-US" sz="17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3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Bestes Modell versioniert &amp; promotebar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6720840" y="1965960"/>
            <a:ext cx="4937760" cy="4069080"/>
          </a:xfrm>
          <a:prstGeom prst="roundRect">
            <a:avLst>
              <a:gd name="adj" fmla="val 1798"/>
            </a:avLst>
          </a:prstGeom>
          <a:solidFill>
            <a:srgbClr val="EAF1EA"/>
          </a:solidFill>
          <a:ln w="12700">
            <a:solidFill>
              <a:srgbClr val="D5DED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995160" y="214884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Datengrundlage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995160" y="256032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6995160" y="30358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503920" y="256032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8503920" y="30358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Unternehmen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0012680" y="256032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100 %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10012680" y="30358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ISIN-Coverage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995160" y="3611880"/>
            <a:ext cx="4389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B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7132320" y="3950208"/>
            <a:ext cx="43434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300" dirty="0">
                <a:solidFill>
                  <a:srgbClr val="1E2B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n_holdings</a:t>
            </a:r>
            <a:endParaRPr lang="en-US" sz="13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300" dirty="0">
                <a:solidFill>
                  <a:srgbClr val="1E2B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w_scope1</a:t>
            </a:r>
            <a:endParaRPr lang="en-US" sz="13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300" dirty="0">
                <a:solidFill>
                  <a:srgbClr val="1E2B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w_scope2</a:t>
            </a:r>
            <a:endParaRPr lang="en-US" sz="13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300" dirty="0">
                <a:solidFill>
                  <a:srgbClr val="1E2B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pct_energy</a:t>
            </a:r>
            <a:endParaRPr lang="en-US" sz="13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300" dirty="0">
                <a:solidFill>
                  <a:srgbClr val="1E2B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pct_materials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995160" y="5349240"/>
            <a:ext cx="4389120" cy="502920"/>
          </a:xfrm>
          <a:prstGeom prst="roundRect">
            <a:avLst>
              <a:gd name="adj" fmla="val 10909"/>
            </a:avLst>
          </a:prstGeom>
          <a:solidFill>
            <a:srgbClr val="2C5F2D"/>
          </a:solidFill>
          <a:ln/>
        </p:spPr>
      </p:sp>
      <p:sp>
        <p:nvSpPr>
          <p:cNvPr id="23" name="Text 21"/>
          <p:cNvSpPr/>
          <p:nvPr/>
        </p:nvSpPr>
        <p:spPr>
          <a:xfrm>
            <a:off x="6995160" y="5349240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Bestes Modell:  k = 2   ·   Silhouette 0.266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22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Ergebnis &amp; der MLOps-Bogen</a:t>
            </a:r>
            <a:endParaRPr lang="en-US" sz="33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760720" cy="4709160"/>
          </a:xfrm>
          <a:prstGeom prst="roundRect">
            <a:avLst>
              <a:gd name="adj" fmla="val 1165"/>
            </a:avLst>
          </a:prstGeom>
          <a:solidFill>
            <a:srgbClr val="FFFFFF"/>
          </a:solidFill>
          <a:ln w="12700">
            <a:solidFill>
              <a:srgbClr val="24413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77240" y="1554480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B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Silhouette je k — Optimum bei k = 2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143000" y="5532120"/>
            <a:ext cx="4892040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5431536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1143000" y="4556760"/>
            <a:ext cx="4892040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4456176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143000" y="3581400"/>
            <a:ext cx="4892040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8368" y="3480816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1143000" y="2606040"/>
            <a:ext cx="4892040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8368" y="2505456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348740" y="2937662"/>
            <a:ext cx="566928" cy="2594458"/>
          </a:xfrm>
          <a:prstGeom prst="rect">
            <a:avLst/>
          </a:prstGeom>
          <a:solidFill>
            <a:srgbClr val="2C5F2D"/>
          </a:solidFill>
          <a:ln/>
        </p:spPr>
      </p:sp>
      <p:sp>
        <p:nvSpPr>
          <p:cNvPr id="14" name="Text 12"/>
          <p:cNvSpPr/>
          <p:nvPr/>
        </p:nvSpPr>
        <p:spPr>
          <a:xfrm>
            <a:off x="1120140" y="2663342"/>
            <a:ext cx="10241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B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0.266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120140" y="5586984"/>
            <a:ext cx="10241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B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k=2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2327148" y="3717950"/>
            <a:ext cx="566928" cy="1814170"/>
          </a:xfrm>
          <a:prstGeom prst="rect">
            <a:avLst/>
          </a:prstGeom>
          <a:solidFill>
            <a:srgbClr val="8A978C"/>
          </a:solidFill>
          <a:ln/>
        </p:spPr>
      </p:sp>
      <p:sp>
        <p:nvSpPr>
          <p:cNvPr id="17" name="Text 15"/>
          <p:cNvSpPr/>
          <p:nvPr/>
        </p:nvSpPr>
        <p:spPr>
          <a:xfrm>
            <a:off x="2098548" y="3443630"/>
            <a:ext cx="10241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B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0.186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2098548" y="5586984"/>
            <a:ext cx="10241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B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k=3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305556" y="3805733"/>
            <a:ext cx="566928" cy="1726387"/>
          </a:xfrm>
          <a:prstGeom prst="rect">
            <a:avLst/>
          </a:prstGeom>
          <a:solidFill>
            <a:srgbClr val="8A978C"/>
          </a:solidFill>
          <a:ln/>
        </p:spPr>
      </p:sp>
      <p:sp>
        <p:nvSpPr>
          <p:cNvPr id="20" name="Text 18"/>
          <p:cNvSpPr/>
          <p:nvPr/>
        </p:nvSpPr>
        <p:spPr>
          <a:xfrm>
            <a:off x="3076956" y="3531413"/>
            <a:ext cx="10241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B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0.177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076956" y="5586984"/>
            <a:ext cx="10241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B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k=4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283964" y="3669182"/>
            <a:ext cx="566928" cy="1862938"/>
          </a:xfrm>
          <a:prstGeom prst="rect">
            <a:avLst/>
          </a:prstGeom>
          <a:solidFill>
            <a:srgbClr val="8A978C"/>
          </a:solidFill>
          <a:ln/>
        </p:spPr>
      </p:sp>
      <p:sp>
        <p:nvSpPr>
          <p:cNvPr id="23" name="Text 21"/>
          <p:cNvSpPr/>
          <p:nvPr/>
        </p:nvSpPr>
        <p:spPr>
          <a:xfrm>
            <a:off x="4055364" y="3394862"/>
            <a:ext cx="10241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B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0.191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055364" y="5586984"/>
            <a:ext cx="10241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B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k=5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262372" y="3786226"/>
            <a:ext cx="566928" cy="1745894"/>
          </a:xfrm>
          <a:prstGeom prst="rect">
            <a:avLst/>
          </a:prstGeom>
          <a:solidFill>
            <a:srgbClr val="8A978C"/>
          </a:solidFill>
          <a:ln/>
        </p:spPr>
      </p:sp>
      <p:sp>
        <p:nvSpPr>
          <p:cNvPr id="26" name="Text 24"/>
          <p:cNvSpPr/>
          <p:nvPr/>
        </p:nvSpPr>
        <p:spPr>
          <a:xfrm>
            <a:off x="5033772" y="3511906"/>
            <a:ext cx="10241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B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0.179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033772" y="5586984"/>
            <a:ext cx="10241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B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k=6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629400" y="1463040"/>
            <a:ext cx="5074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9C7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Go-Live-Workflow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6629400" y="1920240"/>
            <a:ext cx="5074920" cy="502920"/>
          </a:xfrm>
          <a:prstGeom prst="roundRect">
            <a:avLst>
              <a:gd name="adj" fmla="val 10909"/>
            </a:avLst>
          </a:prstGeom>
          <a:solidFill>
            <a:srgbClr val="2C5F2D"/>
          </a:solidFill>
          <a:ln/>
        </p:spPr>
      </p:sp>
      <p:sp>
        <p:nvSpPr>
          <p:cNvPr id="30" name="Text 28"/>
          <p:cNvSpPr/>
          <p:nvPr/>
        </p:nvSpPr>
        <p:spPr>
          <a:xfrm>
            <a:off x="6629400" y="1920240"/>
            <a:ext cx="5074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trainieren  (make train)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9166860" y="2432304"/>
            <a:ext cx="0" cy="146304"/>
          </a:xfrm>
          <a:prstGeom prst="line">
            <a:avLst/>
          </a:prstGeom>
          <a:noFill/>
          <a:ln w="25400">
            <a:solidFill>
              <a:srgbClr val="A9C77E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6629400" y="2578608"/>
            <a:ext cx="5074920" cy="502920"/>
          </a:xfrm>
          <a:prstGeom prst="roundRect">
            <a:avLst>
              <a:gd name="adj" fmla="val 10909"/>
            </a:avLst>
          </a:prstGeom>
          <a:solidFill>
            <a:srgbClr val="2C5F2D"/>
          </a:solidFill>
          <a:ln/>
        </p:spPr>
      </p:sp>
      <p:sp>
        <p:nvSpPr>
          <p:cNvPr id="33" name="Text 31"/>
          <p:cNvSpPr/>
          <p:nvPr/>
        </p:nvSpPr>
        <p:spPr>
          <a:xfrm>
            <a:off x="6629400" y="2578608"/>
            <a:ext cx="5074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registrieren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9166860" y="3090672"/>
            <a:ext cx="0" cy="146304"/>
          </a:xfrm>
          <a:prstGeom prst="line">
            <a:avLst/>
          </a:prstGeom>
          <a:noFill/>
          <a:ln w="25400">
            <a:solidFill>
              <a:srgbClr val="A9C77E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6629400" y="3236976"/>
            <a:ext cx="5074920" cy="502920"/>
          </a:xfrm>
          <a:prstGeom prst="roundRect">
            <a:avLst>
              <a:gd name="adj" fmla="val 10909"/>
            </a:avLst>
          </a:prstGeom>
          <a:solidFill>
            <a:srgbClr val="2C5F2D"/>
          </a:solidFill>
          <a:ln/>
        </p:spPr>
      </p:sp>
      <p:sp>
        <p:nvSpPr>
          <p:cNvPr id="36" name="Text 34"/>
          <p:cNvSpPr/>
          <p:nvPr/>
        </p:nvSpPr>
        <p:spPr>
          <a:xfrm>
            <a:off x="6629400" y="3236976"/>
            <a:ext cx="5074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promoten → Production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9166860" y="3749040"/>
            <a:ext cx="0" cy="146304"/>
          </a:xfrm>
          <a:prstGeom prst="line">
            <a:avLst/>
          </a:prstGeom>
          <a:noFill/>
          <a:ln w="25400">
            <a:solidFill>
              <a:srgbClr val="A9C77E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6629400" y="3895344"/>
            <a:ext cx="5074920" cy="502920"/>
          </a:xfrm>
          <a:prstGeom prst="roundRect">
            <a:avLst>
              <a:gd name="adj" fmla="val 10909"/>
            </a:avLst>
          </a:prstGeom>
          <a:solidFill>
            <a:srgbClr val="24413A"/>
          </a:solidFill>
          <a:ln w="15875">
            <a:solidFill>
              <a:srgbClr val="7DA34D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6629400" y="3895344"/>
            <a:ext cx="5074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A9C7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servieren  (FastAPI, geplant)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6629400" y="4709160"/>
            <a:ext cx="5074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9C7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Ausblick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6766560" y="5074920"/>
            <a:ext cx="4937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Batch-Scoring → Iceberg-Tabelle curated.fund_esg (in CloudBeaver abfragbar)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FastAPI-Endpoint serviert die Production-Version des Modells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2026-07-23T11:23:15Z</dcterms:created>
  <dcterms:modified xsi:type="dcterms:W3CDTF">2026-07-23T11:23:15Z</dcterms:modified>
</cp:coreProperties>
</file>