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MLflow braucht nur DB + Objektspeicher — beides hat das Lakehouse schon. Backend-Store = PostgreSQL (Runs, Parameter, Metriken), Artifact-Store = MinIO (Modelle, Plots, Reports). Trainingsdaten aus dem Iceberg-raw-Layer via Trino, Training in Jupyter, Protokoll gegen MLflow (UI 5555). Ein zusaetzlicher Container mlflow — mehr Infrastruktur war nicht noetig.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Feature-Engineering per Trino-Join: Fondspositionen x Emittenten-Emissionen ueber ISIN, gewichtet (weight_pct summiert je Fonds auf 100%). w_scope1 = Sigma(Gewicht% x Scope-1) — ein Financed-Emissions-Proxy, KEINE umsatznormierte Intensitaet. KMeans mit k-Sweep, jeder Lauf ein MLflow-Run. 10 Fonds/30 Firmen, volle ISIN-Coverage -&gt; zu wenig fuer ueberwachtes Lernen, daher Clustering. Bestes Modell k=2.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Inertia faellt monoton, Silhouette maximal bei k=2 (0,266) -&gt; mehr Cluster ist nicht besser. Ergebnis: Cluster 0 'CO2-intensiver' (7 Fonds, Oe w_scope1 ~8,4M, ~14% Energy), Cluster 1 'emissionsaermer' (3 Fonds, ~5,1M, ~7,5% Energy) — Trennung primaer entlang w_scope1. Diskussionspunkte: 'Nachhaltigkeit Renten' hat den HOECHSTEN Fussabdruck (12M) trotz Name; auch der 'Paris Climate'-Indexfonds liegt im CO2-intensiven Cluster -&gt; Name != gemessener Fussabdruck. Grenzen: 10 Fonds, synthetisch, Proxy statt WACI. Go-Live per Registry-Promotion auf Production. Ausblick: Batch-Scoring in curated.fund_esg (per SQL abfragbar), FastAPI-Serving.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MLflow im Mini-Lakehouse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9C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nativ im bestehenden Stack — kein neuer Backing-Service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3246120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F4F7F2"/>
          </a:solidFill>
          <a:ln w="12700">
            <a:solidFill>
              <a:srgbClr val="D5DED2"/>
            </a:solidFill>
            <a:prstDash val="solid"/>
          </a:ln>
          <a:effectLst>
            <a:outerShdw sx="100000" sy="100000" kx="0" ky="0" algn="bl" rotWithShape="0" blurRad="76200" dist="25400" dir="5400000">
              <a:srgbClr val="0B1712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3246120"/>
            <a:ext cx="21488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Iceberg + Trino</a:t>
            </a:r>
            <a:endParaRPr lang="en-US" sz="15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layer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0" y="3794760"/>
            <a:ext cx="411480" cy="0"/>
          </a:xfrm>
          <a:prstGeom prst="line">
            <a:avLst/>
          </a:prstGeom>
          <a:noFill/>
          <a:ln w="28575">
            <a:solidFill>
              <a:srgbClr val="A9C77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200400" y="324612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F4F7F2"/>
          </a:solidFill>
          <a:ln w="12700">
            <a:solidFill>
              <a:srgbClr val="D5DED2"/>
            </a:solidFill>
            <a:prstDash val="solid"/>
          </a:ln>
          <a:effectLst>
            <a:outerShdw sx="100000" sy="100000" kx="0" ky="0" algn="bl" rotWithShape="0" blurRad="76200" dist="25400" dir="5400000">
              <a:srgbClr val="0B1712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3246120"/>
            <a:ext cx="187452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</a:t>
            </a:r>
            <a:endParaRPr lang="en-US" sz="15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120640" y="3794760"/>
            <a:ext cx="457200" cy="0"/>
          </a:xfrm>
          <a:prstGeom prst="line">
            <a:avLst/>
          </a:prstGeom>
          <a:noFill/>
          <a:ln w="28575">
            <a:solidFill>
              <a:srgbClr val="A9C77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623560" y="3017520"/>
            <a:ext cx="2788920" cy="1554480"/>
          </a:xfrm>
          <a:prstGeom prst="roundRect">
            <a:avLst>
              <a:gd name="adj" fmla="val 4706"/>
            </a:avLst>
          </a:prstGeom>
          <a:solidFill>
            <a:srgbClr val="2C5F2D"/>
          </a:solidFill>
          <a:ln w="12700">
            <a:solidFill>
              <a:srgbClr val="7DA34D"/>
            </a:solidFill>
            <a:prstDash val="solid"/>
          </a:ln>
          <a:effectLst>
            <a:outerShdw sx="100000" sy="100000" kx="0" ky="0" algn="bl" rotWithShape="0" blurRad="76200" dist="25400" dir="5400000">
              <a:srgbClr val="0B1712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23560" y="3017520"/>
            <a:ext cx="2788920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Tracking Server</a:t>
            </a:r>
            <a:endParaRPr lang="en-US" sz="17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A9C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 ·  Port 5555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458200" y="3383280"/>
            <a:ext cx="457200" cy="0"/>
          </a:xfrm>
          <a:prstGeom prst="line">
            <a:avLst/>
          </a:prstGeom>
          <a:noFill/>
          <a:ln w="28575">
            <a:solidFill>
              <a:srgbClr val="A9C77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458200" y="4206240"/>
            <a:ext cx="457200" cy="0"/>
          </a:xfrm>
          <a:prstGeom prst="line">
            <a:avLst/>
          </a:prstGeom>
          <a:noFill/>
          <a:ln w="28575">
            <a:solidFill>
              <a:srgbClr val="A9C77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961120" y="292608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EAF1EA"/>
          </a:solidFill>
          <a:ln w="12700">
            <a:solidFill>
              <a:srgbClr val="EAF1EA"/>
            </a:solidFill>
            <a:prstDash val="solid"/>
          </a:ln>
          <a:effectLst>
            <a:outerShdw sx="100000" sy="100000" kx="0" ky="0" algn="bl" rotWithShape="0" blurRad="76200" dist="25400" dir="5400000">
              <a:srgbClr val="0B1712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61120" y="2926080"/>
            <a:ext cx="274320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5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Backend-Store · Runs · Metriken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402336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EAF1EA"/>
          </a:solidFill>
          <a:ln w="12700">
            <a:solidFill>
              <a:srgbClr val="EAF1EA"/>
            </a:solidFill>
            <a:prstDash val="solid"/>
          </a:ln>
          <a:effectLst>
            <a:outerShdw sx="100000" sy="100000" kx="0" ky="0" algn="bl" rotWithShape="0" blurRad="76200" dist="25400" dir="5400000">
              <a:srgbClr val="0B1712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61120" y="4023360"/>
            <a:ext cx="274320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</a:t>
            </a:r>
            <a:endParaRPr lang="en-US" sz="15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Artifact-Store · Modelle · Plots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9C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Wiederverwendet, was das Lakehouse schon hat — Datenbank + Objektspeicher.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Fonds-CO₂-Fußabdruck &amp; ESG-Clustering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Data-Science-Projekt aus Lakehouse-Daten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196596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80160" y="192024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E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Feature-Engineering</a:t>
            </a:r>
            <a:endParaRPr lang="en-US" sz="17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Trino-Join: Fondspositionen × Unternehmens-Emissionen (ISIN), gewichtet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94360" y="2953512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2907792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E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mit k-Sweep</a:t>
            </a:r>
            <a:endParaRPr lang="en-US" sz="17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2…6, standardisierte Features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3941064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3895344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E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MLflow-Tracking</a:t>
            </a:r>
            <a:endParaRPr lang="en-US" sz="17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Lauf: Parameter, Silhouette, Inertia, Modell, Plot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94360" y="4928616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80160" y="4882896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E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</a:t>
            </a:r>
            <a:endParaRPr lang="en-US" sz="17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Bestes Modell versioniert &amp; promotebar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720840" y="1965960"/>
            <a:ext cx="4937760" cy="4069080"/>
          </a:xfrm>
          <a:prstGeom prst="roundRect">
            <a:avLst>
              <a:gd name="adj" fmla="val 1798"/>
            </a:avLst>
          </a:prstGeom>
          <a:solidFill>
            <a:srgbClr val="EAF1EA"/>
          </a:solidFill>
          <a:ln w="12700">
            <a:solidFill>
              <a:srgbClr val="D5DE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1488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Datengrundlage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995160" y="30358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03920" y="25603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503920" y="30358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Unternehmen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12680" y="25603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0012680" y="30358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ISIN-Coverage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95160" y="36118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32320" y="3950208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E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n_holdings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E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w_scope1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E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w_scope2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E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pct_energy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E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pct_materials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995160" y="5349240"/>
            <a:ext cx="4389120" cy="502920"/>
          </a:xfrm>
          <a:prstGeom prst="roundRect">
            <a:avLst>
              <a:gd name="adj" fmla="val 10909"/>
            </a:avLst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6995160" y="53492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Bestes Modell:  k = 2   ·   Silhouette 0.266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Ergebnis &amp; der MLOps-Bogen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760720" cy="47091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12700">
            <a:solidFill>
              <a:srgbClr val="2441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554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je k — Optimum bei k = 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43000" y="5532120"/>
            <a:ext cx="489204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543153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143000" y="4556760"/>
            <a:ext cx="489204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445617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143000" y="3581400"/>
            <a:ext cx="489204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48081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143000" y="2606040"/>
            <a:ext cx="489204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50545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348740" y="2937662"/>
            <a:ext cx="566928" cy="259445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1120140" y="266334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0.266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20140" y="5586984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327148" y="3717950"/>
            <a:ext cx="566928" cy="1814170"/>
          </a:xfrm>
          <a:prstGeom prst="rect">
            <a:avLst/>
          </a:prstGeom>
          <a:solidFill>
            <a:srgbClr val="8A978C"/>
          </a:solidFill>
          <a:ln/>
        </p:spPr>
      </p:sp>
      <p:sp>
        <p:nvSpPr>
          <p:cNvPr id="17" name="Text 15"/>
          <p:cNvSpPr/>
          <p:nvPr/>
        </p:nvSpPr>
        <p:spPr>
          <a:xfrm>
            <a:off x="2098548" y="3443630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98548" y="5586984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05556" y="3805733"/>
            <a:ext cx="566928" cy="1726387"/>
          </a:xfrm>
          <a:prstGeom prst="rect">
            <a:avLst/>
          </a:prstGeom>
          <a:solidFill>
            <a:srgbClr val="8A978C"/>
          </a:solidFill>
          <a:ln/>
        </p:spPr>
      </p:sp>
      <p:sp>
        <p:nvSpPr>
          <p:cNvPr id="20" name="Text 18"/>
          <p:cNvSpPr/>
          <p:nvPr/>
        </p:nvSpPr>
        <p:spPr>
          <a:xfrm>
            <a:off x="3076956" y="3531413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0.177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76956" y="5586984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83964" y="3669182"/>
            <a:ext cx="566928" cy="1862938"/>
          </a:xfrm>
          <a:prstGeom prst="rect">
            <a:avLst/>
          </a:prstGeom>
          <a:solidFill>
            <a:srgbClr val="8A978C"/>
          </a:solidFill>
          <a:ln/>
        </p:spPr>
      </p:sp>
      <p:sp>
        <p:nvSpPr>
          <p:cNvPr id="23" name="Text 21"/>
          <p:cNvSpPr/>
          <p:nvPr/>
        </p:nvSpPr>
        <p:spPr>
          <a:xfrm>
            <a:off x="4055364" y="339486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055364" y="5586984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k=5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262372" y="3786226"/>
            <a:ext cx="566928" cy="1745894"/>
          </a:xfrm>
          <a:prstGeom prst="rect">
            <a:avLst/>
          </a:prstGeom>
          <a:solidFill>
            <a:srgbClr val="8A978C"/>
          </a:solidFill>
          <a:ln/>
        </p:spPr>
      </p:sp>
      <p:sp>
        <p:nvSpPr>
          <p:cNvPr id="26" name="Text 24"/>
          <p:cNvSpPr/>
          <p:nvPr/>
        </p:nvSpPr>
        <p:spPr>
          <a:xfrm>
            <a:off x="5033772" y="3511906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0.179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33772" y="5586984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29400" y="146304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9C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Go-Live-Workflow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629400" y="1920240"/>
            <a:ext cx="5074920" cy="502920"/>
          </a:xfrm>
          <a:prstGeom prst="roundRect">
            <a:avLst>
              <a:gd name="adj" fmla="val 10909"/>
            </a:avLst>
          </a:prstGeom>
          <a:solidFill>
            <a:srgbClr val="2C5F2D"/>
          </a:solidFill>
          <a:ln/>
        </p:spPr>
      </p:sp>
      <p:sp>
        <p:nvSpPr>
          <p:cNvPr id="30" name="Text 28"/>
          <p:cNvSpPr/>
          <p:nvPr/>
        </p:nvSpPr>
        <p:spPr>
          <a:xfrm>
            <a:off x="6629400" y="1920240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trainieren  (make train)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166860" y="2432304"/>
            <a:ext cx="0" cy="146304"/>
          </a:xfrm>
          <a:prstGeom prst="line">
            <a:avLst/>
          </a:prstGeom>
          <a:noFill/>
          <a:ln w="25400">
            <a:solidFill>
              <a:srgbClr val="A9C77E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629400" y="2578608"/>
            <a:ext cx="5074920" cy="502920"/>
          </a:xfrm>
          <a:prstGeom prst="roundRect">
            <a:avLst>
              <a:gd name="adj" fmla="val 10909"/>
            </a:avLst>
          </a:prstGeom>
          <a:solidFill>
            <a:srgbClr val="2C5F2D"/>
          </a:solidFill>
          <a:ln/>
        </p:spPr>
      </p:sp>
      <p:sp>
        <p:nvSpPr>
          <p:cNvPr id="33" name="Text 31"/>
          <p:cNvSpPr/>
          <p:nvPr/>
        </p:nvSpPr>
        <p:spPr>
          <a:xfrm>
            <a:off x="6629400" y="2578608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registrieren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166860" y="3090672"/>
            <a:ext cx="0" cy="146304"/>
          </a:xfrm>
          <a:prstGeom prst="line">
            <a:avLst/>
          </a:prstGeom>
          <a:noFill/>
          <a:ln w="25400">
            <a:solidFill>
              <a:srgbClr val="A9C77E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629400" y="3236976"/>
            <a:ext cx="5074920" cy="502920"/>
          </a:xfrm>
          <a:prstGeom prst="roundRect">
            <a:avLst>
              <a:gd name="adj" fmla="val 10909"/>
            </a:avLst>
          </a:prstGeom>
          <a:solidFill>
            <a:srgbClr val="2C5F2D"/>
          </a:solidFill>
          <a:ln/>
        </p:spPr>
      </p:sp>
      <p:sp>
        <p:nvSpPr>
          <p:cNvPr id="36" name="Text 34"/>
          <p:cNvSpPr/>
          <p:nvPr/>
        </p:nvSpPr>
        <p:spPr>
          <a:xfrm>
            <a:off x="6629400" y="3236976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promoten → Production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9166860" y="3749040"/>
            <a:ext cx="0" cy="146304"/>
          </a:xfrm>
          <a:prstGeom prst="line">
            <a:avLst/>
          </a:prstGeom>
          <a:noFill/>
          <a:ln w="25400">
            <a:solidFill>
              <a:srgbClr val="A9C77E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629400" y="3895344"/>
            <a:ext cx="5074920" cy="502920"/>
          </a:xfrm>
          <a:prstGeom prst="roundRect">
            <a:avLst>
              <a:gd name="adj" fmla="val 10909"/>
            </a:avLst>
          </a:prstGeom>
          <a:solidFill>
            <a:srgbClr val="24413A"/>
          </a:solidFill>
          <a:ln w="15875">
            <a:solidFill>
              <a:srgbClr val="7DA34D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6629400" y="3895344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9C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servieren  (FastAPI, geplant)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629400" y="470916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9C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Ausblick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766560" y="50749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Batch-Scoring → Iceberg-Tabelle curated.fund_esg (in CloudBeaver abfragbar)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FastAPI-Endpoint serviert die Production-Version des Modells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2026-07-23T11:59:08Z</dcterms:created>
  <dcterms:modified xsi:type="dcterms:W3CDTF">2026-07-23T11:59:08Z</dcterms:modified>
</cp:coreProperties>
</file>